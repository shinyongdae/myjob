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96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EEFF0-826A-4157-99A9-CA4E7B10575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D8A-00A3-458A-8859-E5CBE58EB3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045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EEFF0-826A-4157-99A9-CA4E7B10575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D8A-00A3-458A-8859-E5CBE58EB3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043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EEFF0-826A-4157-99A9-CA4E7B10575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D8A-00A3-458A-8859-E5CBE58EB3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024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EEFF0-826A-4157-99A9-CA4E7B10575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D8A-00A3-458A-8859-E5CBE58EB3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354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EEFF0-826A-4157-99A9-CA4E7B10575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D8A-00A3-458A-8859-E5CBE58EB3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451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EEFF0-826A-4157-99A9-CA4E7B10575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D8A-00A3-458A-8859-E5CBE58EB3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351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EEFF0-826A-4157-99A9-CA4E7B10575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D8A-00A3-458A-8859-E5CBE58EB3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383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EEFF0-826A-4157-99A9-CA4E7B10575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D8A-00A3-458A-8859-E5CBE58EB3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100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EEFF0-826A-4157-99A9-CA4E7B10575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D8A-00A3-458A-8859-E5CBE58EB3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000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EEFF0-826A-4157-99A9-CA4E7B10575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D8A-00A3-458A-8859-E5CBE58EB3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57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EEFF0-826A-4157-99A9-CA4E7B10575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3D8A-00A3-458A-8859-E5CBE58EB3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87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EEFF0-826A-4157-99A9-CA4E7B10575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C3D8A-00A3-458A-8859-E5CBE58EB3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050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3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구형 설비 </a:t>
            </a:r>
            <a:r>
              <a:rPr lang="en-US" altLang="ko-KR" dirty="0" smtClean="0"/>
              <a:t>ITS </a:t>
            </a:r>
            <a:r>
              <a:rPr lang="ko-KR" altLang="en-US" dirty="0" smtClean="0"/>
              <a:t>적용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구형 </a:t>
            </a:r>
            <a:r>
              <a:rPr lang="en-US" altLang="ko-KR" dirty="0" smtClean="0"/>
              <a:t>AOI </a:t>
            </a:r>
            <a:r>
              <a:rPr lang="ko-KR" altLang="en-US" dirty="0" smtClean="0"/>
              <a:t>설비</a:t>
            </a:r>
            <a:r>
              <a:rPr lang="en-US" altLang="ko-KR" dirty="0" smtClean="0"/>
              <a:t>(AOI #1~#5)</a:t>
            </a:r>
            <a:r>
              <a:rPr lang="ko-KR" altLang="en-US" dirty="0" smtClean="0"/>
              <a:t>에 대해서는 </a:t>
            </a:r>
            <a:r>
              <a:rPr lang="en-US" altLang="ko-KR" dirty="0" smtClean="0"/>
              <a:t>ITS </a:t>
            </a:r>
            <a:r>
              <a:rPr lang="ko-KR" altLang="en-US" dirty="0" smtClean="0"/>
              <a:t>적용이 불가 사유</a:t>
            </a:r>
            <a:endParaRPr lang="en-US" altLang="ko-KR" dirty="0" smtClean="0"/>
          </a:p>
          <a:p>
            <a:r>
              <a:rPr lang="en-US" altLang="ko-KR" dirty="0" smtClean="0"/>
              <a:t>2026.01.20</a:t>
            </a:r>
          </a:p>
          <a:p>
            <a:r>
              <a:rPr lang="ko-KR" altLang="en-US" dirty="0" smtClean="0"/>
              <a:t>신  용  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4117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구형 설비 </a:t>
            </a:r>
            <a:r>
              <a:rPr lang="en-US" altLang="ko-KR" dirty="0" smtClean="0"/>
              <a:t>ITS </a:t>
            </a:r>
            <a:r>
              <a:rPr lang="ko-KR" altLang="en-US" dirty="0" smtClean="0"/>
              <a:t>적용 불가 관련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 smtClean="0"/>
              <a:t>AOI #1 ~ #2 </a:t>
            </a:r>
          </a:p>
          <a:p>
            <a:pPr lvl="1"/>
            <a:r>
              <a:rPr lang="ko-KR" altLang="en-US" dirty="0" smtClean="0"/>
              <a:t>운영체제 </a:t>
            </a:r>
            <a:r>
              <a:rPr lang="en-US" altLang="ko-KR" dirty="0" smtClean="0"/>
              <a:t>: Windows2000 (32Bits </a:t>
            </a:r>
            <a:r>
              <a:rPr lang="ko-KR" altLang="en-US" dirty="0" smtClean="0"/>
              <a:t>운영체제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검사관련 카메라 및 영상취득 </a:t>
            </a:r>
            <a:r>
              <a:rPr lang="en-US" altLang="ko-KR" dirty="0" smtClean="0"/>
              <a:t>Board </a:t>
            </a:r>
            <a:r>
              <a:rPr lang="ko-KR" altLang="en-US" dirty="0" smtClean="0"/>
              <a:t>단종 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InsproAOI</a:t>
            </a:r>
            <a:r>
              <a:rPr lang="en-US" altLang="ko-KR" dirty="0" smtClean="0"/>
              <a:t> </a:t>
            </a:r>
            <a:r>
              <a:rPr lang="ko-KR" altLang="en-US" dirty="0" smtClean="0"/>
              <a:t>모델</a:t>
            </a:r>
            <a:r>
              <a:rPr lang="en-US" altLang="ko-KR" dirty="0" smtClean="0"/>
              <a:t> </a:t>
            </a:r>
            <a:r>
              <a:rPr lang="ko-KR" altLang="en-US" dirty="0" smtClean="0"/>
              <a:t>단종 </a:t>
            </a:r>
            <a:r>
              <a:rPr lang="en-US" altLang="ko-KR" dirty="0" smtClean="0"/>
              <a:t>(H/W</a:t>
            </a:r>
            <a:r>
              <a:rPr lang="ko-KR" altLang="en-US" dirty="0" smtClean="0"/>
              <a:t>단종에 따른 </a:t>
            </a:r>
            <a:r>
              <a:rPr lang="en-US" altLang="ko-KR" dirty="0" smtClean="0"/>
              <a:t>AOI </a:t>
            </a:r>
            <a:r>
              <a:rPr lang="ko-KR" altLang="en-US" dirty="0" smtClean="0"/>
              <a:t>프로그램 </a:t>
            </a:r>
            <a:r>
              <a:rPr lang="ko-KR" altLang="en-US" dirty="0" smtClean="0"/>
              <a:t>지원 중단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AOI #3 ~ #5 </a:t>
            </a:r>
          </a:p>
          <a:p>
            <a:pPr lvl="1"/>
            <a:r>
              <a:rPr lang="ko-KR" altLang="en-US" dirty="0" smtClean="0"/>
              <a:t>운영체제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WindowsXp</a:t>
            </a:r>
            <a:r>
              <a:rPr lang="en-US" altLang="ko-KR" dirty="0" smtClean="0"/>
              <a:t> (32Bits </a:t>
            </a:r>
            <a:r>
              <a:rPr lang="ko-KR" altLang="en-US" dirty="0" smtClean="0"/>
              <a:t>운영체제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검사관련 카메라 및 영상취득 </a:t>
            </a:r>
            <a:r>
              <a:rPr lang="en-US" altLang="ko-KR" dirty="0" smtClean="0"/>
              <a:t>Board </a:t>
            </a:r>
            <a:r>
              <a:rPr lang="ko-KR" altLang="en-US" dirty="0" smtClean="0"/>
              <a:t>단종 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InsproAOI</a:t>
            </a:r>
            <a:r>
              <a:rPr lang="en-US" altLang="ko-KR" dirty="0" smtClean="0"/>
              <a:t> </a:t>
            </a:r>
            <a:r>
              <a:rPr lang="ko-KR" altLang="en-US" dirty="0" smtClean="0"/>
              <a:t>모델</a:t>
            </a:r>
            <a:r>
              <a:rPr lang="en-US" altLang="ko-KR" dirty="0" smtClean="0"/>
              <a:t> </a:t>
            </a:r>
            <a:r>
              <a:rPr lang="ko-KR" altLang="en-US" dirty="0" smtClean="0"/>
              <a:t>단종 </a:t>
            </a:r>
            <a:r>
              <a:rPr lang="en-US" altLang="ko-KR" dirty="0" smtClean="0"/>
              <a:t>(H/W</a:t>
            </a:r>
            <a:r>
              <a:rPr lang="ko-KR" altLang="en-US" dirty="0" smtClean="0"/>
              <a:t>단종에 따른 </a:t>
            </a:r>
            <a:r>
              <a:rPr lang="en-US" altLang="ko-KR" dirty="0" smtClean="0"/>
              <a:t>AOI </a:t>
            </a:r>
            <a:r>
              <a:rPr lang="ko-KR" altLang="en-US" dirty="0" smtClean="0"/>
              <a:t>프로그램 지원 중단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각인된 </a:t>
            </a:r>
            <a:r>
              <a:rPr lang="en-US" altLang="ko-KR" dirty="0" smtClean="0"/>
              <a:t>2D (</a:t>
            </a:r>
            <a:r>
              <a:rPr lang="en-US" altLang="ko-KR" dirty="0" smtClean="0"/>
              <a:t>ITS) </a:t>
            </a:r>
            <a:r>
              <a:rPr lang="ko-KR" altLang="en-US" dirty="0" smtClean="0"/>
              <a:t>코드</a:t>
            </a:r>
            <a:r>
              <a:rPr lang="ko-KR" altLang="en-US" dirty="0" smtClean="0"/>
              <a:t>를 읽기 위한 </a:t>
            </a:r>
            <a:r>
              <a:rPr lang="en-US" altLang="ko-KR" dirty="0" smtClean="0"/>
              <a:t>2D Reader</a:t>
            </a:r>
            <a:r>
              <a:rPr lang="ko-KR" altLang="en-US" dirty="0" smtClean="0"/>
              <a:t>기 장착불가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2D Reader</a:t>
            </a:r>
            <a:r>
              <a:rPr lang="ko-KR" altLang="en-US" dirty="0" smtClean="0"/>
              <a:t>기 </a:t>
            </a:r>
            <a:r>
              <a:rPr lang="en-US" altLang="ko-KR" dirty="0" smtClean="0"/>
              <a:t>Windows2000, </a:t>
            </a:r>
            <a:r>
              <a:rPr lang="en-US" altLang="ko-KR" dirty="0" err="1" smtClean="0"/>
              <a:t>WindowsXp</a:t>
            </a:r>
            <a:r>
              <a:rPr lang="en-US" altLang="ko-KR" dirty="0" smtClean="0"/>
              <a:t> </a:t>
            </a:r>
            <a:r>
              <a:rPr lang="ko-KR" altLang="en-US" dirty="0" smtClean="0"/>
              <a:t>지원 불가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InsproAOI</a:t>
            </a:r>
            <a:r>
              <a:rPr lang="en-US" altLang="ko-KR" dirty="0" smtClean="0"/>
              <a:t> </a:t>
            </a:r>
            <a:r>
              <a:rPr lang="ko-KR" altLang="en-US" dirty="0" smtClean="0"/>
              <a:t>모델 프로그램 지원 중단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576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대안 프로세스 구성 가능성 검토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200" dirty="0"/>
              <a:t>AOI </a:t>
            </a:r>
            <a:r>
              <a:rPr lang="ko-KR" altLang="en-US" sz="1200" dirty="0"/>
              <a:t>공정 이전에 </a:t>
            </a:r>
            <a:r>
              <a:rPr lang="en-US" altLang="ko-KR" sz="1200" dirty="0"/>
              <a:t>2D </a:t>
            </a:r>
            <a:r>
              <a:rPr lang="ko-KR" altLang="en-US" sz="1200" dirty="0" err="1"/>
              <a:t>마킹을</a:t>
            </a:r>
            <a:r>
              <a:rPr lang="ko-KR" altLang="en-US" sz="1200" dirty="0"/>
              <a:t> 수행하는 별도 공정을 구성하고</a:t>
            </a:r>
            <a:r>
              <a:rPr lang="en-US" altLang="ko-KR" sz="1200" dirty="0"/>
              <a:t>, AOI </a:t>
            </a:r>
            <a:r>
              <a:rPr lang="ko-KR" altLang="en-US" sz="1200" dirty="0"/>
              <a:t>공정에서는 해당 </a:t>
            </a:r>
            <a:r>
              <a:rPr lang="ko-KR" altLang="en-US" sz="1200" dirty="0" err="1"/>
              <a:t>마킹</a:t>
            </a:r>
            <a:r>
              <a:rPr lang="ko-KR" altLang="en-US" sz="1200" dirty="0"/>
              <a:t> 정보에 </a:t>
            </a:r>
            <a:r>
              <a:rPr lang="ko-KR" altLang="en-US" sz="1200" dirty="0" smtClean="0"/>
              <a:t>대한</a:t>
            </a:r>
            <a:r>
              <a:rPr lang="ko-KR" altLang="en-US" sz="1200" dirty="0"/>
              <a:t> </a:t>
            </a:r>
            <a:r>
              <a:rPr lang="en-US" altLang="ko-KR" sz="1200" dirty="0" smtClean="0"/>
              <a:t>Reading</a:t>
            </a:r>
            <a:r>
              <a:rPr lang="ko-KR" altLang="en-US" sz="1200" dirty="0"/>
              <a:t>만 수행하는 프로세스 구축 가능 여부</a:t>
            </a:r>
            <a:endParaRPr lang="ko-KR" altLang="en-US" sz="1200" dirty="0" smtClean="0"/>
          </a:p>
          <a:p>
            <a:pPr lvl="1"/>
            <a:r>
              <a:rPr lang="en-US" altLang="ko-KR" sz="1200" b="1" dirty="0" smtClean="0">
                <a:solidFill>
                  <a:srgbClr val="FF0000"/>
                </a:solidFill>
              </a:rPr>
              <a:t>AOI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공정에서는 해당 </a:t>
            </a:r>
            <a:r>
              <a:rPr lang="ko-KR" altLang="en-US" sz="1200" b="1" dirty="0" err="1" smtClean="0">
                <a:solidFill>
                  <a:srgbClr val="FF0000"/>
                </a:solidFill>
              </a:rPr>
              <a:t>마킹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 정보에 대한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Reading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 수행은 할 수 없습니다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. (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앞에서 언급한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H/W, S/W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지원 </a:t>
            </a:r>
            <a:r>
              <a:rPr lang="ko-KR" altLang="en-US" sz="1200" b="1" dirty="0" err="1" smtClean="0">
                <a:solidFill>
                  <a:srgbClr val="FF0000"/>
                </a:solidFill>
              </a:rPr>
              <a:t>않됨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)</a:t>
            </a:r>
            <a:endParaRPr lang="en-US" altLang="ko-KR" sz="1200" b="1" dirty="0" smtClean="0">
              <a:solidFill>
                <a:srgbClr val="FF0000"/>
              </a:solidFill>
            </a:endParaRPr>
          </a:p>
          <a:p>
            <a:r>
              <a:rPr lang="en-US" altLang="ko-KR" dirty="0" smtClean="0"/>
              <a:t>AOI #1~#5 </a:t>
            </a:r>
            <a:r>
              <a:rPr lang="ko-KR" altLang="en-US" dirty="0" smtClean="0"/>
              <a:t>에서 생성된 결과 파일을 이용한 </a:t>
            </a:r>
            <a:r>
              <a:rPr lang="en-US" altLang="ko-KR" dirty="0" smtClean="0"/>
              <a:t>ITS </a:t>
            </a:r>
            <a:r>
              <a:rPr lang="ko-KR" altLang="en-US" dirty="0" smtClean="0"/>
              <a:t>파일 생성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pic>
        <p:nvPicPr>
          <p:cNvPr id="26" name="내용 개체 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919" y="2892314"/>
            <a:ext cx="6696583" cy="386408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34221" y="2892314"/>
            <a:ext cx="358961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 smtClean="0"/>
              <a:t>캠마스터에서</a:t>
            </a:r>
            <a:r>
              <a:rPr lang="ko-KR" altLang="en-US" sz="1000" b="1" dirty="0" smtClean="0"/>
              <a:t> 스트립정보와 매트릭스정보를 변경해서 </a:t>
            </a:r>
            <a:r>
              <a:rPr lang="en-US" altLang="ko-KR" sz="1000" b="1" dirty="0" smtClean="0"/>
              <a:t>AOI</a:t>
            </a:r>
            <a:r>
              <a:rPr lang="ko-KR" altLang="en-US" sz="1000" b="1" dirty="0" smtClean="0"/>
              <a:t> 및 </a:t>
            </a:r>
            <a:r>
              <a:rPr lang="ko-KR" altLang="en-US" sz="1000" b="1" dirty="0" err="1" smtClean="0"/>
              <a:t>펀칭부</a:t>
            </a:r>
            <a:r>
              <a:rPr lang="ko-KR" altLang="en-US" sz="1000" b="1" dirty="0" smtClean="0"/>
              <a:t> 데이터를 처리하면</a:t>
            </a:r>
            <a:r>
              <a:rPr lang="en-US" altLang="ko-KR" sz="1000" b="1" dirty="0" smtClean="0"/>
              <a:t>, </a:t>
            </a:r>
            <a:r>
              <a:rPr lang="en-US" altLang="ko-KR" sz="1000" b="1" dirty="0"/>
              <a:t>ITS Data</a:t>
            </a:r>
            <a:r>
              <a:rPr lang="ko-KR" altLang="en-US" sz="1000" b="1" dirty="0"/>
              <a:t>의 </a:t>
            </a:r>
            <a:r>
              <a:rPr lang="ko-KR" altLang="en-US" sz="1000" b="1" dirty="0" smtClean="0"/>
              <a:t>원점선택에 따라 실물 위치의 데이터 좌표 표시가 다원화 되어</a:t>
            </a:r>
            <a:r>
              <a:rPr lang="en-US" altLang="ko-KR" sz="1000" b="1" dirty="0" smtClean="0"/>
              <a:t>, </a:t>
            </a:r>
            <a:r>
              <a:rPr lang="ko-KR" altLang="en-US" sz="1000" b="1" dirty="0" smtClean="0"/>
              <a:t>복잡도가 높아짐 </a:t>
            </a:r>
            <a:endParaRPr lang="en-US" altLang="ko-KR" sz="1000" b="1" dirty="0" smtClean="0"/>
          </a:p>
          <a:p>
            <a:r>
              <a:rPr lang="ko-KR" altLang="en-US" sz="1000" b="1" dirty="0" smtClean="0"/>
              <a:t>이에 기존 작업방식 및 데이터 처리는 유지하고</a:t>
            </a:r>
            <a:r>
              <a:rPr lang="en-US" altLang="ko-KR" sz="1000" b="1" dirty="0" smtClean="0"/>
              <a:t>, </a:t>
            </a:r>
            <a:r>
              <a:rPr lang="ko-KR" altLang="en-US" sz="1000" b="1" dirty="0" smtClean="0"/>
              <a:t>최종적으로 </a:t>
            </a:r>
            <a:r>
              <a:rPr lang="en-US" altLang="ko-KR" sz="1000" b="1" dirty="0" smtClean="0"/>
              <a:t>ITS </a:t>
            </a:r>
            <a:r>
              <a:rPr lang="ko-KR" altLang="en-US" sz="1000" b="1" dirty="0" smtClean="0"/>
              <a:t>시스템에서 기존 일원화된 데이터를 기반으로 원점 선택에 따른 변경된 결과물을 </a:t>
            </a:r>
            <a:r>
              <a:rPr lang="ko-KR" altLang="en-US" sz="1000" b="1" dirty="0" err="1" smtClean="0"/>
              <a:t>관리하는게</a:t>
            </a:r>
            <a:r>
              <a:rPr lang="ko-KR" altLang="en-US" sz="1000" b="1" dirty="0" smtClean="0"/>
              <a:t> 개발 및 운용에 유리함</a:t>
            </a:r>
            <a:r>
              <a:rPr lang="en-US" altLang="ko-KR" sz="1000" b="1" dirty="0" smtClean="0"/>
              <a:t>.</a:t>
            </a:r>
          </a:p>
          <a:p>
            <a:r>
              <a:rPr lang="en-US" altLang="ko-KR" sz="1000" b="1" dirty="0" smtClean="0"/>
              <a:t>ITS</a:t>
            </a:r>
            <a:r>
              <a:rPr lang="ko-KR" altLang="en-US" sz="1000" b="1" dirty="0" smtClean="0"/>
              <a:t>시스템에서 개발이 어려우면 </a:t>
            </a:r>
            <a:r>
              <a:rPr lang="en-US" altLang="ko-KR" sz="1000" b="1" dirty="0" smtClean="0"/>
              <a:t>ITS</a:t>
            </a:r>
            <a:r>
              <a:rPr lang="ko-KR" altLang="en-US" sz="1000" b="1" dirty="0" smtClean="0"/>
              <a:t>시스템으로 가기 바로 전에 </a:t>
            </a:r>
            <a:r>
              <a:rPr lang="en-US" altLang="ko-KR" sz="1000" b="1" dirty="0" smtClean="0"/>
              <a:t>ITS </a:t>
            </a:r>
            <a:r>
              <a:rPr lang="ko-KR" altLang="en-US" sz="1000" b="1" dirty="0" smtClean="0"/>
              <a:t>데이터를 변환하여 별도로 관리하는 프로그램을 아래와 같이 디자인함</a:t>
            </a:r>
            <a:r>
              <a:rPr lang="en-US" altLang="ko-KR" sz="1000" b="1" dirty="0" smtClean="0"/>
              <a:t>.</a:t>
            </a:r>
            <a:r>
              <a:rPr lang="ko-KR" altLang="en-US" sz="1000" b="1" dirty="0" smtClean="0"/>
              <a:t> </a:t>
            </a:r>
            <a:endParaRPr lang="ko-KR" altLang="en-US" sz="1000" b="1" dirty="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560" y="3059824"/>
            <a:ext cx="5188622" cy="1406790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344" y="4677418"/>
            <a:ext cx="205630" cy="1861307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106" y="4641093"/>
            <a:ext cx="215256" cy="1948431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2773" y="4644603"/>
            <a:ext cx="1498803" cy="1944921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464" y="4634124"/>
            <a:ext cx="1131222" cy="1955400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5867" y="5521067"/>
            <a:ext cx="459053" cy="94845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3179" y="5616657"/>
            <a:ext cx="661332" cy="94476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2337" y="3329434"/>
            <a:ext cx="370237" cy="75205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7846" y="3652013"/>
            <a:ext cx="1240234" cy="85830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2894" y="3120784"/>
            <a:ext cx="200914" cy="74413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67317" y="6606572"/>
            <a:ext cx="273185" cy="78921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75175" y="6415571"/>
            <a:ext cx="160268" cy="7345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929762" y="5143942"/>
            <a:ext cx="40183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AOI #1~#5</a:t>
            </a:r>
            <a:r>
              <a:rPr lang="ko-KR" altLang="en-US" dirty="0" smtClean="0">
                <a:solidFill>
                  <a:srgbClr val="FF0000"/>
                </a:solidFill>
              </a:rPr>
              <a:t>호기는 </a:t>
            </a:r>
            <a:r>
              <a:rPr lang="en-US" altLang="ko-KR" dirty="0" smtClean="0">
                <a:solidFill>
                  <a:srgbClr val="FF0000"/>
                </a:solidFill>
              </a:rPr>
              <a:t>RTR #11~#14</a:t>
            </a:r>
            <a:r>
              <a:rPr lang="ko-KR" altLang="en-US" dirty="0" smtClean="0">
                <a:solidFill>
                  <a:srgbClr val="FF0000"/>
                </a:solidFill>
              </a:rPr>
              <a:t>호기와 환경이 다르므로 현장에서 개발이 일부 필요함</a:t>
            </a:r>
            <a:r>
              <a:rPr lang="en-US" altLang="ko-KR" dirty="0" smtClean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28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5497" y="1825625"/>
            <a:ext cx="7541006" cy="4351338"/>
          </a:xfrm>
          <a:prstGeom prst="rect">
            <a:avLst/>
          </a:prstGeom>
        </p:spPr>
      </p:pic>
      <p:grpSp>
        <p:nvGrpSpPr>
          <p:cNvPr id="28" name="그룹 27"/>
          <p:cNvGrpSpPr/>
          <p:nvPr/>
        </p:nvGrpSpPr>
        <p:grpSpPr>
          <a:xfrm>
            <a:off x="95250" y="646087"/>
            <a:ext cx="11887648" cy="6131051"/>
            <a:chOff x="95250" y="646087"/>
            <a:chExt cx="11887648" cy="6131051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7160" y="2015552"/>
              <a:ext cx="5806440" cy="1574299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62675" y="2332015"/>
              <a:ext cx="420281" cy="8537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48184" y="2664753"/>
              <a:ext cx="1407874" cy="97431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71121" y="4759067"/>
              <a:ext cx="459053" cy="94845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15529" y="6010128"/>
              <a:ext cx="273185" cy="78921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64027" y="5788647"/>
              <a:ext cx="160268" cy="73456"/>
            </a:xfrm>
            <a:prstGeom prst="rect">
              <a:avLst/>
            </a:prstGeom>
          </p:spPr>
        </p:pic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73231" y="2082725"/>
              <a:ext cx="228071" cy="84471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78433" y="4854657"/>
              <a:ext cx="661332" cy="94476"/>
            </a:xfrm>
            <a:prstGeom prst="rect">
              <a:avLst/>
            </a:prstGeom>
          </p:spPr>
        </p:pic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590986" y="3768232"/>
              <a:ext cx="246401" cy="2230350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84721" y="3768232"/>
              <a:ext cx="246401" cy="2230350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726772" y="3771827"/>
              <a:ext cx="1755405" cy="2277901"/>
            </a:xfrm>
            <a:prstGeom prst="rect">
              <a:avLst/>
            </a:prstGeom>
          </p:spPr>
        </p:pic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215590" y="3761729"/>
              <a:ext cx="1129246" cy="1951984"/>
            </a:xfrm>
            <a:prstGeom prst="rect">
              <a:avLst/>
            </a:prstGeom>
          </p:spPr>
        </p:pic>
        <p:sp>
          <p:nvSpPr>
            <p:cNvPr id="18" name="모서리가 둥근 사각형 설명선 17"/>
            <p:cNvSpPr/>
            <p:nvPr/>
          </p:nvSpPr>
          <p:spPr>
            <a:xfrm>
              <a:off x="95251" y="1551088"/>
              <a:ext cx="1882912" cy="274538"/>
            </a:xfrm>
            <a:prstGeom prst="wedgeRoundRectCallout">
              <a:avLst>
                <a:gd name="adj1" fmla="val 63638"/>
                <a:gd name="adj2" fmla="val 129838"/>
                <a:gd name="adj3" fmla="val 16667"/>
              </a:avLst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1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. 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설비 </a:t>
              </a:r>
              <a:r>
                <a:rPr lang="ko-KR" altLang="en-US" sz="800" dirty="0" err="1" smtClean="0">
                  <a:solidFill>
                    <a:schemeClr val="tx1"/>
                  </a:solidFill>
                </a:rPr>
                <a:t>호기명을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 선택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9" name="모서리가 둥근 사각형 설명선 18"/>
            <p:cNvSpPr/>
            <p:nvPr/>
          </p:nvSpPr>
          <p:spPr>
            <a:xfrm>
              <a:off x="95250" y="2077937"/>
              <a:ext cx="1882913" cy="465238"/>
            </a:xfrm>
            <a:prstGeom prst="wedgeRoundRectCallout">
              <a:avLst>
                <a:gd name="adj1" fmla="val 67254"/>
                <a:gd name="adj2" fmla="val 11939"/>
                <a:gd name="adj3" fmla="val 16667"/>
              </a:avLst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2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. 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선택한 설비에 저장된 모델을 선택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0" name="모서리가 둥근 사각형 설명선 19"/>
            <p:cNvSpPr/>
            <p:nvPr/>
          </p:nvSpPr>
          <p:spPr>
            <a:xfrm>
              <a:off x="95250" y="2664752"/>
              <a:ext cx="1882913" cy="2916897"/>
            </a:xfrm>
            <a:prstGeom prst="wedgeRoundRectCallout">
              <a:avLst>
                <a:gd name="adj1" fmla="val 70221"/>
                <a:gd name="adj2" fmla="val -44204"/>
                <a:gd name="adj3" fmla="val 16667"/>
              </a:avLst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3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. 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선택한 모델에서 </a:t>
              </a:r>
              <a:r>
                <a:rPr lang="ko-KR" altLang="en-US" sz="800" dirty="0" err="1" smtClean="0">
                  <a:solidFill>
                    <a:schemeClr val="tx1"/>
                  </a:solidFill>
                </a:rPr>
                <a:t>로트를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 선택</a:t>
              </a:r>
              <a:endParaRPr lang="en-US" altLang="ko-KR" sz="800" dirty="0" smtClean="0">
                <a:solidFill>
                  <a:schemeClr val="tx1"/>
                </a:solidFill>
              </a:endParaRPr>
            </a:p>
            <a:p>
              <a:pPr algn="ctr"/>
              <a:endParaRPr lang="en-US" altLang="ko-KR" sz="8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800" dirty="0" smtClean="0">
                  <a:solidFill>
                    <a:schemeClr val="tx1"/>
                  </a:solidFill>
                </a:rPr>
                <a:t>자동으로 해당 </a:t>
              </a:r>
              <a:r>
                <a:rPr lang="ko-KR" altLang="en-US" sz="800" dirty="0" err="1" smtClean="0">
                  <a:solidFill>
                    <a:schemeClr val="tx1"/>
                  </a:solidFill>
                </a:rPr>
                <a:t>레이어와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 공정코드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, ITS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코드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설정됨</a:t>
              </a:r>
              <a:endParaRPr lang="en-US" altLang="ko-KR" sz="800" dirty="0" smtClean="0">
                <a:solidFill>
                  <a:schemeClr val="tx1"/>
                </a:solidFill>
              </a:endParaRPr>
            </a:p>
            <a:p>
              <a:pPr algn="ctr"/>
              <a:endParaRPr lang="en-US" altLang="ko-KR" sz="8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검사모드는 </a:t>
              </a:r>
              <a:r>
                <a:rPr lang="ko-KR" altLang="en-US" sz="800" dirty="0" err="1">
                  <a:solidFill>
                    <a:schemeClr val="tx1"/>
                  </a:solidFill>
                </a:rPr>
                <a:t>레이어명으로</a:t>
              </a:r>
              <a:r>
                <a:rPr lang="ko-KR" altLang="en-US" sz="800" dirty="0">
                  <a:solidFill>
                    <a:schemeClr val="tx1"/>
                  </a:solidFill>
                </a:rPr>
                <a:t> 선택하고 디폴트는 양면모드임</a:t>
              </a:r>
            </a:p>
            <a:p>
              <a:pPr algn="ctr"/>
              <a:endParaRPr lang="en-US" altLang="ko-KR" sz="800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ITS Data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의 원점선택은 </a:t>
              </a:r>
              <a:endParaRPr lang="en-US" altLang="ko-KR" sz="800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“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디폴트로 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Case 1 (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좌상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)” 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임</a:t>
              </a:r>
              <a:endParaRPr lang="en-US" altLang="ko-KR" sz="800" dirty="0" smtClean="0">
                <a:solidFill>
                  <a:schemeClr val="tx1"/>
                </a:solidFill>
              </a:endParaRPr>
            </a:p>
            <a:p>
              <a:pPr algn="ctr"/>
              <a:endParaRPr lang="en-US" altLang="ko-KR" sz="800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800" dirty="0" err="1" smtClean="0">
                  <a:solidFill>
                    <a:schemeClr val="tx1"/>
                  </a:solidFill>
                </a:rPr>
                <a:t>Reelmap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은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상면이 선택</a:t>
              </a:r>
              <a:endParaRPr lang="en-US" altLang="ko-KR" sz="800" dirty="0" smtClean="0">
                <a:solidFill>
                  <a:schemeClr val="tx1"/>
                </a:solidFill>
              </a:endParaRPr>
            </a:p>
            <a:p>
              <a:pPr algn="ctr"/>
              <a:endParaRPr lang="en-US" altLang="ko-KR" sz="800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800" dirty="0" smtClean="0">
                  <a:solidFill>
                    <a:schemeClr val="tx1"/>
                  </a:solidFill>
                </a:rPr>
                <a:t>시리얼은 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1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번에 가까운 최초의 시리얼이 설정됨</a:t>
              </a:r>
              <a:endParaRPr lang="en-US" altLang="ko-KR" sz="800" dirty="0" smtClean="0">
                <a:solidFill>
                  <a:schemeClr val="tx1"/>
                </a:solidFill>
              </a:endParaRPr>
            </a:p>
            <a:p>
              <a:pPr algn="ctr"/>
              <a:endParaRPr lang="en-US" altLang="ko-KR" sz="800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800" dirty="0" smtClean="0">
                  <a:solidFill>
                    <a:schemeClr val="tx1"/>
                  </a:solidFill>
                </a:rPr>
                <a:t>상면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PCR, 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하면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PCR </a:t>
              </a:r>
              <a:r>
                <a:rPr lang="ko-KR" altLang="en-US" sz="800" dirty="0" err="1" smtClean="0">
                  <a:solidFill>
                    <a:schemeClr val="tx1"/>
                  </a:solidFill>
                </a:rPr>
                <a:t>리스팅</a:t>
              </a:r>
              <a:endParaRPr lang="en-US" altLang="ko-KR" sz="800" dirty="0" smtClean="0">
                <a:solidFill>
                  <a:schemeClr val="tx1"/>
                </a:solidFill>
              </a:endParaRPr>
            </a:p>
            <a:p>
              <a:pPr algn="ctr"/>
              <a:endParaRPr lang="en-US" altLang="ko-KR" sz="8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800" dirty="0" err="1" smtClean="0">
                  <a:solidFill>
                    <a:schemeClr val="tx1"/>
                  </a:solidFill>
                </a:rPr>
                <a:t>검사모드에의해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ITS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파일 </a:t>
              </a:r>
              <a:r>
                <a:rPr lang="ko-KR" altLang="en-US" sz="800" dirty="0" err="1" smtClean="0">
                  <a:solidFill>
                    <a:schemeClr val="tx1"/>
                  </a:solidFill>
                </a:rPr>
                <a:t>리스팅</a:t>
              </a:r>
              <a:endParaRPr lang="en-US" altLang="ko-KR" sz="800" dirty="0">
                <a:solidFill>
                  <a:schemeClr val="tx1"/>
                </a:solidFill>
              </a:endParaRPr>
            </a:p>
          </p:txBody>
        </p:sp>
        <p:sp>
          <p:nvSpPr>
            <p:cNvPr id="21" name="모서리가 둥근 사각형 설명선 20"/>
            <p:cNvSpPr/>
            <p:nvPr/>
          </p:nvSpPr>
          <p:spPr>
            <a:xfrm>
              <a:off x="7476211" y="6311900"/>
              <a:ext cx="1772563" cy="465238"/>
            </a:xfrm>
            <a:prstGeom prst="wedgeRoundRectCallout">
              <a:avLst>
                <a:gd name="adj1" fmla="val -46354"/>
                <a:gd name="adj2" fmla="val -129327"/>
                <a:gd name="adj3" fmla="val 16667"/>
              </a:avLst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4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. ITS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파일을 선택하면 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ITS</a:t>
              </a:r>
            </a:p>
            <a:p>
              <a:pPr algn="ctr"/>
              <a:r>
                <a:rPr lang="ko-KR" altLang="en-US" sz="800" dirty="0" smtClean="0">
                  <a:solidFill>
                    <a:schemeClr val="tx1"/>
                  </a:solidFill>
                </a:rPr>
                <a:t>파일 내용이 표시됨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2" name="오른쪽 화살표 21"/>
            <p:cNvSpPr/>
            <p:nvPr/>
          </p:nvSpPr>
          <p:spPr>
            <a:xfrm rot="17282361">
              <a:off x="8274546" y="5954091"/>
              <a:ext cx="532369" cy="133859"/>
            </a:xfrm>
            <a:prstGeom prst="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모서리가 둥근 사각형 설명선 22"/>
            <p:cNvSpPr/>
            <p:nvPr/>
          </p:nvSpPr>
          <p:spPr>
            <a:xfrm>
              <a:off x="401246" y="6307338"/>
              <a:ext cx="4172040" cy="465238"/>
            </a:xfrm>
            <a:prstGeom prst="wedgeRoundRectCallout">
              <a:avLst>
                <a:gd name="adj1" fmla="val 34779"/>
                <a:gd name="adj2" fmla="val -352487"/>
                <a:gd name="adj3" fmla="val 16667"/>
              </a:avLst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5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. </a:t>
              </a:r>
              <a:r>
                <a:rPr lang="en-US" altLang="ko-KR" sz="800" dirty="0">
                  <a:solidFill>
                    <a:srgbClr val="C00000"/>
                  </a:solidFill>
                </a:rPr>
                <a:t>ITS Data</a:t>
              </a:r>
              <a:r>
                <a:rPr lang="ko-KR" altLang="en-US" sz="800" dirty="0">
                  <a:solidFill>
                    <a:srgbClr val="C00000"/>
                  </a:solidFill>
                </a:rPr>
                <a:t>의 </a:t>
              </a:r>
              <a:r>
                <a:rPr lang="ko-KR" altLang="en-US" sz="800" dirty="0" smtClean="0">
                  <a:solidFill>
                    <a:srgbClr val="C00000"/>
                  </a:solidFill>
                </a:rPr>
                <a:t>원점을 선택하면 </a:t>
              </a:r>
              <a:r>
                <a:rPr lang="en-US" altLang="ko-KR" sz="800" dirty="0" smtClean="0">
                  <a:solidFill>
                    <a:srgbClr val="C00000"/>
                  </a:solidFill>
                </a:rPr>
                <a:t>ITS</a:t>
              </a:r>
              <a:r>
                <a:rPr lang="ko-KR" altLang="en-US" sz="800" dirty="0" smtClean="0">
                  <a:solidFill>
                    <a:srgbClr val="C00000"/>
                  </a:solidFill>
                </a:rPr>
                <a:t>파일 내용이 선택한 원점을 </a:t>
              </a:r>
              <a:endParaRPr lang="en-US" altLang="ko-KR" sz="800" dirty="0" smtClean="0">
                <a:solidFill>
                  <a:srgbClr val="C00000"/>
                </a:solidFill>
              </a:endParaRPr>
            </a:p>
            <a:p>
              <a:pPr algn="ctr"/>
              <a:r>
                <a:rPr lang="ko-KR" altLang="en-US" sz="800" dirty="0" smtClean="0">
                  <a:solidFill>
                    <a:srgbClr val="C00000"/>
                  </a:solidFill>
                </a:rPr>
                <a:t>기준으로 </a:t>
              </a:r>
              <a:r>
                <a:rPr lang="ko-KR" altLang="en-US" sz="800" dirty="0">
                  <a:solidFill>
                    <a:srgbClr val="C00000"/>
                  </a:solidFill>
                </a:rPr>
                <a:t>생성날짜와 시간으로 </a:t>
              </a:r>
              <a:r>
                <a:rPr lang="ko-KR" altLang="en-US" sz="800" dirty="0" smtClean="0">
                  <a:solidFill>
                    <a:srgbClr val="C00000"/>
                  </a:solidFill>
                </a:rPr>
                <a:t>새 파일이 추가 생성됨</a:t>
              </a:r>
              <a:endParaRPr lang="en-US" altLang="ko-KR" sz="800" dirty="0" smtClean="0">
                <a:solidFill>
                  <a:srgbClr val="C00000"/>
                </a:solidFill>
              </a:endParaRPr>
            </a:p>
          </p:txBody>
        </p:sp>
        <p:sp>
          <p:nvSpPr>
            <p:cNvPr id="24" name="모서리가 둥근 사각형 설명선 23"/>
            <p:cNvSpPr/>
            <p:nvPr/>
          </p:nvSpPr>
          <p:spPr>
            <a:xfrm>
              <a:off x="5422846" y="6294847"/>
              <a:ext cx="1363259" cy="465238"/>
            </a:xfrm>
            <a:prstGeom prst="wedgeRoundRectCallout">
              <a:avLst>
                <a:gd name="adj1" fmla="val -115525"/>
                <a:gd name="adj2" fmla="val -135469"/>
                <a:gd name="adj3" fmla="val 16667"/>
              </a:avLst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/>
                  </a:solidFill>
                </a:rPr>
                <a:t>시리얼을 선택하고 클릭하면 </a:t>
              </a:r>
              <a:r>
                <a:rPr lang="ko-KR" altLang="en-US" sz="1000" b="1" dirty="0" err="1" smtClean="0">
                  <a:solidFill>
                    <a:schemeClr val="tx1"/>
                  </a:solidFill>
                </a:rPr>
                <a:t>릴맵이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 표시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됨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5" name="오른쪽 화살표 24"/>
            <p:cNvSpPr/>
            <p:nvPr/>
          </p:nvSpPr>
          <p:spPr>
            <a:xfrm rot="19673488">
              <a:off x="4015491" y="5705751"/>
              <a:ext cx="1872591" cy="158941"/>
            </a:xfrm>
            <a:prstGeom prst="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27387" y="646087"/>
              <a:ext cx="845551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 err="1" smtClean="0"/>
                <a:t>캠마스터에서</a:t>
              </a:r>
              <a:r>
                <a:rPr lang="ko-KR" altLang="en-US" sz="1000" b="1" dirty="0" smtClean="0"/>
                <a:t> 스트립정보와 매트릭스정보를 변경해서 </a:t>
              </a:r>
              <a:r>
                <a:rPr lang="en-US" altLang="ko-KR" sz="1000" b="1" dirty="0" smtClean="0"/>
                <a:t>AOI</a:t>
              </a:r>
              <a:r>
                <a:rPr lang="ko-KR" altLang="en-US" sz="1000" b="1" dirty="0" smtClean="0"/>
                <a:t> 및 </a:t>
              </a:r>
              <a:r>
                <a:rPr lang="ko-KR" altLang="en-US" sz="1000" b="1" dirty="0" err="1" smtClean="0"/>
                <a:t>펀칭부</a:t>
              </a:r>
              <a:r>
                <a:rPr lang="ko-KR" altLang="en-US" sz="1000" b="1" dirty="0" smtClean="0"/>
                <a:t> 데이터를 처리하면</a:t>
              </a:r>
              <a:r>
                <a:rPr lang="en-US" altLang="ko-KR" sz="1000" b="1" dirty="0" smtClean="0"/>
                <a:t>, </a:t>
              </a:r>
              <a:r>
                <a:rPr lang="en-US" altLang="ko-KR" sz="1000" b="1" dirty="0"/>
                <a:t>ITS Data</a:t>
              </a:r>
              <a:r>
                <a:rPr lang="ko-KR" altLang="en-US" sz="1000" b="1" dirty="0"/>
                <a:t>의 </a:t>
              </a:r>
              <a:r>
                <a:rPr lang="ko-KR" altLang="en-US" sz="1000" b="1" dirty="0" smtClean="0"/>
                <a:t>원점선택에 따라 실물 위치의 데이터 좌표 표시가 다원화 되어</a:t>
              </a:r>
              <a:r>
                <a:rPr lang="en-US" altLang="ko-KR" sz="1000" b="1" dirty="0" smtClean="0"/>
                <a:t>, </a:t>
              </a:r>
              <a:r>
                <a:rPr lang="ko-KR" altLang="en-US" sz="1000" b="1" dirty="0" smtClean="0"/>
                <a:t>복잡도가 높아짐 </a:t>
              </a:r>
              <a:endParaRPr lang="en-US" altLang="ko-KR" sz="1000" b="1" dirty="0" smtClean="0"/>
            </a:p>
            <a:p>
              <a:r>
                <a:rPr lang="ko-KR" altLang="en-US" sz="1000" b="1" dirty="0" smtClean="0"/>
                <a:t>이에 기존 작업방식 및 데이터 처리는 유지하고</a:t>
              </a:r>
              <a:r>
                <a:rPr lang="en-US" altLang="ko-KR" sz="1000" b="1" dirty="0" smtClean="0"/>
                <a:t>, </a:t>
              </a:r>
              <a:r>
                <a:rPr lang="ko-KR" altLang="en-US" sz="1000" b="1" dirty="0" smtClean="0"/>
                <a:t>최종적으로 </a:t>
              </a:r>
              <a:r>
                <a:rPr lang="en-US" altLang="ko-KR" sz="1000" b="1" dirty="0" smtClean="0"/>
                <a:t>ITS </a:t>
              </a:r>
              <a:r>
                <a:rPr lang="ko-KR" altLang="en-US" sz="1000" b="1" dirty="0" smtClean="0"/>
                <a:t>시스템에서 기존 일원화된 데이터를 기반으로 원점 선택에 따른 변경된 결과물을 </a:t>
              </a:r>
              <a:r>
                <a:rPr lang="ko-KR" altLang="en-US" sz="1000" b="1" dirty="0" err="1" smtClean="0"/>
                <a:t>관리하는게</a:t>
              </a:r>
              <a:r>
                <a:rPr lang="ko-KR" altLang="en-US" sz="1000" b="1" dirty="0" smtClean="0"/>
                <a:t> 개발 및 운용에 유리함</a:t>
              </a:r>
              <a:r>
                <a:rPr lang="en-US" altLang="ko-KR" sz="1000" b="1" dirty="0" smtClean="0"/>
                <a:t>.</a:t>
              </a:r>
            </a:p>
            <a:p>
              <a:r>
                <a:rPr lang="en-US" altLang="ko-KR" sz="1000" b="1" dirty="0" smtClean="0"/>
                <a:t>ITS</a:t>
              </a:r>
              <a:r>
                <a:rPr lang="ko-KR" altLang="en-US" sz="1000" b="1" dirty="0" smtClean="0"/>
                <a:t>시스템에서 개발이 어려우면 </a:t>
              </a:r>
              <a:r>
                <a:rPr lang="en-US" altLang="ko-KR" sz="1000" b="1" dirty="0" smtClean="0"/>
                <a:t>ITS</a:t>
              </a:r>
              <a:r>
                <a:rPr lang="ko-KR" altLang="en-US" sz="1000" b="1" dirty="0" smtClean="0"/>
                <a:t>시스템으로 가기 바로 전에 </a:t>
              </a:r>
              <a:r>
                <a:rPr lang="en-US" altLang="ko-KR" sz="1000" b="1" dirty="0" smtClean="0"/>
                <a:t>ITS </a:t>
              </a:r>
              <a:r>
                <a:rPr lang="ko-KR" altLang="en-US" sz="1000" b="1" dirty="0" smtClean="0"/>
                <a:t>데이터를 변환하여 별도로 관리하는 프로그램을 아래와 같이 디자인함</a:t>
              </a:r>
              <a:r>
                <a:rPr lang="en-US" altLang="ko-KR" sz="1000" b="1" dirty="0" smtClean="0"/>
                <a:t>.</a:t>
              </a:r>
              <a:r>
                <a:rPr lang="ko-KR" altLang="en-US" sz="1000" b="1" dirty="0" smtClean="0"/>
                <a:t> </a:t>
              </a:r>
              <a:endParaRPr lang="ko-KR" altLang="en-US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215689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388</Words>
  <Application>Microsoft Office PowerPoint</Application>
  <PresentationFormat>와이드스크린</PresentationFormat>
  <Paragraphs>50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구형 설비 ITS 적용</vt:lpstr>
      <vt:lpstr>구형 설비 ITS 적용 불가 관련</vt:lpstr>
      <vt:lpstr>대안 프로세스 구성 가능성 검토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구형 설비 ITS 적용</dc:title>
  <dc:creator>Microsoft 계정</dc:creator>
  <cp:lastModifiedBy>Microsoft 계정</cp:lastModifiedBy>
  <cp:revision>4</cp:revision>
  <dcterms:created xsi:type="dcterms:W3CDTF">2026-01-20T00:23:13Z</dcterms:created>
  <dcterms:modified xsi:type="dcterms:W3CDTF">2026-01-20T00:56:30Z</dcterms:modified>
</cp:coreProperties>
</file>