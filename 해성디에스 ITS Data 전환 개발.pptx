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35" autoAdjust="0"/>
    <p:restoredTop sz="94660"/>
  </p:normalViewPr>
  <p:slideViewPr>
    <p:cSldViewPr snapToGrid="0">
      <p:cViewPr varScale="1">
        <p:scale>
          <a:sx n="89" d="100"/>
          <a:sy n="89" d="100"/>
        </p:scale>
        <p:origin x="96" y="49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ECE2-9A56-411B-93FA-8EF34085AF15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B7E18-4259-4FF2-BCB8-B322C7F562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865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ECE2-9A56-411B-93FA-8EF34085AF15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B7E18-4259-4FF2-BCB8-B322C7F562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40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ECE2-9A56-411B-93FA-8EF34085AF15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B7E18-4259-4FF2-BCB8-B322C7F562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976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ECE2-9A56-411B-93FA-8EF34085AF15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B7E18-4259-4FF2-BCB8-B322C7F562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104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ECE2-9A56-411B-93FA-8EF34085AF15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B7E18-4259-4FF2-BCB8-B322C7F562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601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ECE2-9A56-411B-93FA-8EF34085AF15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B7E18-4259-4FF2-BCB8-B322C7F562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079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ECE2-9A56-411B-93FA-8EF34085AF15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B7E18-4259-4FF2-BCB8-B322C7F562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99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ECE2-9A56-411B-93FA-8EF34085AF15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B7E18-4259-4FF2-BCB8-B322C7F562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259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ECE2-9A56-411B-93FA-8EF34085AF15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B7E18-4259-4FF2-BCB8-B322C7F562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578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ECE2-9A56-411B-93FA-8EF34085AF15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B7E18-4259-4FF2-BCB8-B322C7F562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901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ECE2-9A56-411B-93FA-8EF34085AF15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B7E18-4259-4FF2-BCB8-B322C7F562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78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6ECE2-9A56-411B-93FA-8EF34085AF15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B7E18-4259-4FF2-BCB8-B322C7F562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432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imws050@gigavis.com" TargetMode="External"/><Relationship Id="rId2" Type="http://schemas.openxmlformats.org/officeDocument/2006/relationships/hyperlink" Target="mailto:sy.kang@haesungds.ne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jy0214.kim@haesungds.ne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95136" y="1483895"/>
            <a:ext cx="9930064" cy="3489157"/>
          </a:xfrm>
        </p:spPr>
        <p:txBody>
          <a:bodyPr>
            <a:normAutofit fontScale="55000" lnSpcReduction="20000"/>
          </a:bodyPr>
          <a:lstStyle/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From: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강상영</a:t>
            </a:r>
            <a:r>
              <a:rPr kumimoji="0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sy.kang@haesungds.net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  <a:b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Sent: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Wednesday, October 15, 2025 2:05 PM</a:t>
            </a:r>
            <a:b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To: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kimws050@gigavis.com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Cc: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김재영</a:t>
            </a:r>
            <a:r>
              <a:rPr kumimoji="0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jy0214.kim@haesungds.net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b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Subject: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ko-K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해성디에스</a:t>
            </a:r>
            <a:r>
              <a:rPr kumimoji="0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ITS Data </a:t>
            </a:r>
            <a:r>
              <a:rPr kumimoji="0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전환</a:t>
            </a:r>
            <a:r>
              <a:rPr kumimoji="0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개발</a:t>
            </a:r>
            <a:r>
              <a:rPr kumimoji="0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件</a:t>
            </a:r>
            <a:r>
              <a:rPr kumimoji="0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견적</a:t>
            </a:r>
            <a:r>
              <a:rPr kumimoji="0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확인</a:t>
            </a:r>
            <a:r>
              <a:rPr kumimoji="0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요청</a:t>
            </a:r>
            <a:endParaRPr kumimoji="0" lang="ko-KR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en-US" sz="4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2000" dirty="0">
                <a:latin typeface="맑은 고딕" panose="020B0503020000020004" pitchFamily="50" charset="-127"/>
              </a:rPr>
              <a:t>안녕하세요 </a:t>
            </a:r>
            <a:r>
              <a:rPr lang="ko-KR" altLang="en-US" sz="2000" dirty="0" err="1">
                <a:latin typeface="맑은 고딕" panose="020B0503020000020004" pitchFamily="50" charset="-127"/>
              </a:rPr>
              <a:t>해성디에스</a:t>
            </a:r>
            <a:r>
              <a:rPr lang="ko-KR" altLang="en-US" sz="2000" dirty="0">
                <a:latin typeface="맑은 고딕" panose="020B0503020000020004" pitchFamily="50" charset="-127"/>
              </a:rPr>
              <a:t> 강상영 입니다</a:t>
            </a:r>
            <a:r>
              <a:rPr lang="en-US" altLang="ko-KR" sz="2000" dirty="0">
                <a:latin typeface="맑은 고딕" panose="020B0503020000020004" pitchFamily="50" charset="-127"/>
              </a:rPr>
              <a:t>.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2000" dirty="0">
                <a:latin typeface="맑은 고딕" panose="020B0503020000020004" pitchFamily="50" charset="-127"/>
              </a:rPr>
              <a:t> 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2000" dirty="0">
                <a:latin typeface="맑은 고딕" panose="020B0503020000020004" pitchFamily="50" charset="-127"/>
              </a:rPr>
              <a:t>주임님 유선으로 </a:t>
            </a:r>
            <a:r>
              <a:rPr lang="ko-KR" altLang="en-US" sz="2000" dirty="0" err="1">
                <a:latin typeface="맑은 고딕" panose="020B0503020000020004" pitchFamily="50" charset="-127"/>
              </a:rPr>
              <a:t>말씀드린</a:t>
            </a:r>
            <a:r>
              <a:rPr lang="ko-KR" altLang="en-US" sz="2000" dirty="0">
                <a:latin typeface="맑은 고딕" panose="020B0503020000020004" pitchFamily="50" charset="-127"/>
              </a:rPr>
              <a:t> 개발 건 견적 확인 </a:t>
            </a:r>
            <a:r>
              <a:rPr lang="ko-KR" altLang="en-US" sz="2000" dirty="0" err="1">
                <a:latin typeface="맑은 고딕" panose="020B0503020000020004" pitchFamily="50" charset="-127"/>
              </a:rPr>
              <a:t>요청드립니다</a:t>
            </a:r>
            <a:r>
              <a:rPr lang="en-US" altLang="ko-KR" sz="2000" dirty="0">
                <a:latin typeface="맑은 고딕" panose="020B0503020000020004" pitchFamily="50" charset="-127"/>
              </a:rPr>
              <a:t>.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2000" dirty="0">
                <a:latin typeface="맑은 고딕" panose="020B0503020000020004" pitchFamily="50" charset="-127"/>
              </a:rPr>
              <a:t>개발 대상은 아래 </a:t>
            </a:r>
            <a:r>
              <a:rPr lang="en-US" altLang="ko-KR" sz="2000" dirty="0">
                <a:latin typeface="맑은 고딕" panose="020B0503020000020004" pitchFamily="50" charset="-127"/>
              </a:rPr>
              <a:t>2</a:t>
            </a:r>
            <a:r>
              <a:rPr lang="ko-KR" altLang="en-US" sz="2000" dirty="0">
                <a:latin typeface="맑은 고딕" panose="020B0503020000020004" pitchFamily="50" charset="-127"/>
              </a:rPr>
              <a:t>가지이며</a:t>
            </a:r>
            <a:r>
              <a:rPr lang="en-US" altLang="ko-KR" sz="2000" dirty="0">
                <a:latin typeface="맑은 고딕" panose="020B0503020000020004" pitchFamily="50" charset="-127"/>
              </a:rPr>
              <a:t>, </a:t>
            </a:r>
            <a:r>
              <a:rPr lang="ko-KR" altLang="en-US" sz="2000" dirty="0">
                <a:latin typeface="맑은 고딕" panose="020B0503020000020004" pitchFamily="50" charset="-127"/>
              </a:rPr>
              <a:t>추가 설명 필요 시 연락 </a:t>
            </a:r>
            <a:r>
              <a:rPr lang="ko-KR" altLang="en-US" sz="2000" dirty="0" err="1">
                <a:latin typeface="맑은 고딕" panose="020B0503020000020004" pitchFamily="50" charset="-127"/>
              </a:rPr>
              <a:t>부탁드립니다</a:t>
            </a:r>
            <a:r>
              <a:rPr lang="en-US" altLang="ko-KR" sz="2000" dirty="0">
                <a:latin typeface="맑은 고딕" panose="020B0503020000020004" pitchFamily="50" charset="-127"/>
              </a:rPr>
              <a:t>.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2000" dirty="0">
                <a:latin typeface="맑은 고딕" panose="020B0503020000020004" pitchFamily="50" charset="-127"/>
              </a:rPr>
              <a:t> 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2000" dirty="0">
                <a:latin typeface="맑은 고딕" panose="020B0503020000020004" pitchFamily="50" charset="-127"/>
              </a:rPr>
              <a:t>1. </a:t>
            </a:r>
            <a:r>
              <a:rPr lang="ko-KR" altLang="en-US" sz="2000" dirty="0">
                <a:latin typeface="맑은 고딕" panose="020B0503020000020004" pitchFamily="50" charset="-127"/>
              </a:rPr>
              <a:t>원점 기준정보 관리 프로그램 </a:t>
            </a:r>
            <a:r>
              <a:rPr lang="en-US" altLang="ko-KR" sz="2000" dirty="0">
                <a:latin typeface="맑은 고딕" panose="020B0503020000020004" pitchFamily="50" charset="-127"/>
              </a:rPr>
              <a:t>: </a:t>
            </a:r>
            <a:r>
              <a:rPr lang="ko-KR" altLang="en-US" sz="2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캠마스터에</a:t>
            </a:r>
            <a:r>
              <a:rPr lang="ko-KR" altLang="en-US" sz="200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티칭된</a:t>
            </a:r>
            <a:r>
              <a:rPr lang="ko-KR" altLang="en-US" sz="2000" dirty="0">
                <a:solidFill>
                  <a:srgbClr val="000000"/>
                </a:solidFill>
                <a:latin typeface="맑은 고딕" panose="020B0503020000020004" pitchFamily="50" charset="-127"/>
              </a:rPr>
              <a:t> 모델 리스트를 가져와서</a:t>
            </a:r>
            <a:r>
              <a:rPr lang="en-US" altLang="ko-KR" sz="2000" dirty="0">
                <a:solidFill>
                  <a:srgbClr val="000000"/>
                </a:solidFill>
                <a:latin typeface="맑은 고딕" panose="020B0503020000020004" pitchFamily="50" charset="-127"/>
              </a:rPr>
              <a:t>, </a:t>
            </a:r>
            <a:r>
              <a:rPr lang="ko-KR" altLang="en-US" sz="2000" dirty="0" err="1">
                <a:latin typeface="맑은 고딕" panose="020B0503020000020004" pitchFamily="50" charset="-127"/>
              </a:rPr>
              <a:t>모델별</a:t>
            </a:r>
            <a:r>
              <a:rPr lang="ko-KR" altLang="en-US" sz="2000" dirty="0">
                <a:latin typeface="맑은 고딕" panose="020B0503020000020004" pitchFamily="50" charset="-127"/>
              </a:rPr>
              <a:t> 원점을 지정하는 프로그램</a:t>
            </a:r>
            <a:endParaRPr kumimoji="0" lang="ko-KR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2000" dirty="0">
                <a:latin typeface="맑은 고딕" panose="020B0503020000020004" pitchFamily="50" charset="-127"/>
              </a:rPr>
              <a:t> 지정한 원점을 </a:t>
            </a:r>
            <a:r>
              <a:rPr lang="en-US" altLang="ko-KR" sz="2000" dirty="0">
                <a:latin typeface="맑은 고딕" panose="020B0503020000020004" pitchFamily="50" charset="-127"/>
              </a:rPr>
              <a:t>AOI </a:t>
            </a:r>
            <a:r>
              <a:rPr lang="ko-KR" altLang="en-US" sz="2000" dirty="0">
                <a:latin typeface="맑은 고딕" panose="020B0503020000020004" pitchFamily="50" charset="-127"/>
              </a:rPr>
              <a:t>설비에 전달하여 </a:t>
            </a:r>
            <a:r>
              <a:rPr lang="en-US" altLang="ko-KR" sz="2000" dirty="0">
                <a:latin typeface="맑은 고딕" panose="020B0503020000020004" pitchFamily="50" charset="-127"/>
              </a:rPr>
              <a:t>ITS Data</a:t>
            </a:r>
            <a:r>
              <a:rPr lang="ko-KR" altLang="en-US" sz="2000" dirty="0">
                <a:latin typeface="맑은 고딕" panose="020B0503020000020004" pitchFamily="50" charset="-127"/>
              </a:rPr>
              <a:t>를 </a:t>
            </a:r>
            <a:r>
              <a:rPr lang="ko-KR" altLang="en-US" sz="2000" dirty="0" err="1">
                <a:latin typeface="맑은 고딕" panose="020B0503020000020004" pitchFamily="50" charset="-127"/>
              </a:rPr>
              <a:t>만들어야함</a:t>
            </a:r>
            <a:r>
              <a:rPr lang="ko-KR" altLang="en-US" sz="2000" dirty="0">
                <a:latin typeface="맑은 고딕" panose="020B0503020000020004" pitchFamily="50" charset="-127"/>
              </a:rPr>
              <a:t> </a:t>
            </a:r>
            <a:r>
              <a:rPr lang="en-US" altLang="ko-KR" sz="2000" dirty="0">
                <a:latin typeface="맑은 고딕" panose="020B0503020000020004" pitchFamily="50" charset="-127"/>
              </a:rPr>
              <a:t>(</a:t>
            </a:r>
            <a:r>
              <a:rPr lang="ko-KR" altLang="en-US" sz="2000" dirty="0">
                <a:latin typeface="맑은 고딕" panose="020B0503020000020004" pitchFamily="50" charset="-127"/>
              </a:rPr>
              <a:t>토크리스트 프로그램과 유사</a:t>
            </a:r>
            <a:r>
              <a:rPr lang="en-US" altLang="ko-KR" sz="2000" dirty="0">
                <a:latin typeface="맑은 고딕" panose="020B0503020000020004" pitchFamily="50" charset="-127"/>
              </a:rPr>
              <a:t>)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2000" dirty="0">
                <a:latin typeface="맑은 고딕" panose="020B0503020000020004" pitchFamily="50" charset="-127"/>
              </a:rPr>
              <a:t> 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2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2. ITS Data </a:t>
            </a:r>
            <a:r>
              <a:rPr lang="ko-KR" altLang="en-US" sz="2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좌표 전환 기능 </a:t>
            </a:r>
            <a:r>
              <a:rPr lang="en-US" altLang="ko-KR" sz="2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20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제품 투입 </a:t>
            </a:r>
            <a:r>
              <a:rPr lang="ko-KR" altLang="en-US" sz="2000" dirty="0">
                <a:solidFill>
                  <a:srgbClr val="000000"/>
                </a:solidFill>
                <a:latin typeface="맑은 고딕" panose="020B0503020000020004" pitchFamily="50" charset="-127"/>
              </a:rPr>
              <a:t>방향에 따라 </a:t>
            </a:r>
            <a:r>
              <a:rPr lang="en-US" altLang="ko-KR" sz="2000" dirty="0">
                <a:solidFill>
                  <a:srgbClr val="000000"/>
                </a:solidFill>
                <a:latin typeface="맑은 고딕" panose="020B0503020000020004" pitchFamily="50" charset="-127"/>
              </a:rPr>
              <a:t>ITS Data</a:t>
            </a:r>
            <a:r>
              <a:rPr lang="ko-KR" altLang="en-US" sz="2000" dirty="0">
                <a:solidFill>
                  <a:srgbClr val="000000"/>
                </a:solidFill>
                <a:latin typeface="맑은 고딕" panose="020B0503020000020004" pitchFamily="50" charset="-127"/>
              </a:rPr>
              <a:t>의 원점과 열이 바뀜</a:t>
            </a:r>
            <a:r>
              <a:rPr lang="en-US" altLang="ko-KR" sz="2000" dirty="0">
                <a:solidFill>
                  <a:srgbClr val="000000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2000" dirty="0">
                <a:solidFill>
                  <a:srgbClr val="000000"/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2000" dirty="0">
                <a:solidFill>
                  <a:srgbClr val="000000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2000" dirty="0">
                <a:solidFill>
                  <a:srgbClr val="000000"/>
                </a:solidFill>
                <a:latin typeface="맑은 고딕" panose="020B0503020000020004" pitchFamily="50" charset="-127"/>
              </a:rPr>
              <a:t>가지 </a:t>
            </a:r>
            <a:r>
              <a:rPr lang="en-US" altLang="ko-KR" sz="2000" dirty="0">
                <a:solidFill>
                  <a:srgbClr val="000000"/>
                </a:solidFill>
                <a:latin typeface="맑은 고딕" panose="020B0503020000020004" pitchFamily="50" charset="-127"/>
              </a:rPr>
              <a:t>Case</a:t>
            </a:r>
            <a:r>
              <a:rPr lang="ko-KR" altLang="en-US" sz="2000" dirty="0">
                <a:solidFill>
                  <a:srgbClr val="000000"/>
                </a:solidFill>
                <a:latin typeface="맑은 고딕" panose="020B0503020000020004" pitchFamily="50" charset="-127"/>
              </a:rPr>
              <a:t>로 아래 참조                               </a:t>
            </a:r>
            <a:endParaRPr kumimoji="0" lang="ko-KR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2000" dirty="0">
                <a:solidFill>
                  <a:srgbClr val="000000"/>
                </a:solidFill>
                <a:latin typeface="맑은 고딕" panose="020B0503020000020004" pitchFamily="50" charset="-127"/>
              </a:rPr>
              <a:t>  </a:t>
            </a:r>
            <a:endParaRPr kumimoji="0" lang="ko-KR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2000" dirty="0">
                <a:solidFill>
                  <a:srgbClr val="000000"/>
                </a:solidFill>
                <a:latin typeface="맑은 고딕" panose="020B0503020000020004" pitchFamily="50" charset="-127"/>
              </a:rPr>
              <a:t> </a:t>
            </a:r>
            <a:endParaRPr kumimoji="0" lang="ko-KR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2000" dirty="0">
                <a:solidFill>
                  <a:srgbClr val="000000"/>
                </a:solidFill>
                <a:latin typeface="맑은 고딕" panose="020B0503020000020004" pitchFamily="50" charset="-127"/>
              </a:rPr>
              <a:t>감사합니다</a:t>
            </a:r>
            <a:r>
              <a:rPr lang="en-US" altLang="ko-KR" sz="2000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  <a:endParaRPr lang="en-US" altLang="ko-KR" sz="863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4040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https://ma218.mailplug.com/api/showImage.php?host_domain=gigavis.com&amp;image=OTQ5NWUzOTA2N2JhNDVjNjMwZGMwZDc3MjYxMGRlODQwMzFmOGJlMg=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071" y="1596190"/>
            <a:ext cx="9026561" cy="3651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027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GUI </a:t>
            </a:r>
            <a:r>
              <a:rPr lang="ko-KR" altLang="en-US" dirty="0"/>
              <a:t>구성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5497" y="1825625"/>
            <a:ext cx="7541006" cy="435133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160" y="2015552"/>
            <a:ext cx="5806440" cy="157429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675" y="2332015"/>
            <a:ext cx="420281" cy="8537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8184" y="2664753"/>
            <a:ext cx="1407874" cy="9743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1121" y="4759067"/>
            <a:ext cx="459053" cy="9484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5529" y="6010128"/>
            <a:ext cx="273185" cy="7892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4027" y="5788647"/>
            <a:ext cx="160268" cy="73456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3231" y="2082725"/>
            <a:ext cx="228071" cy="84471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78433" y="4854657"/>
            <a:ext cx="661332" cy="94476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0986" y="3768232"/>
            <a:ext cx="246401" cy="223035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4721" y="3768232"/>
            <a:ext cx="246401" cy="223035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26772" y="3771827"/>
            <a:ext cx="1755405" cy="227790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5590" y="3761729"/>
            <a:ext cx="1129246" cy="1951984"/>
          </a:xfrm>
          <a:prstGeom prst="rect">
            <a:avLst/>
          </a:prstGeom>
        </p:spPr>
      </p:pic>
      <p:sp>
        <p:nvSpPr>
          <p:cNvPr id="21" name="모서리가 둥근 사각형 설명선 20"/>
          <p:cNvSpPr/>
          <p:nvPr/>
        </p:nvSpPr>
        <p:spPr>
          <a:xfrm>
            <a:off x="95251" y="1551088"/>
            <a:ext cx="1882912" cy="274538"/>
          </a:xfrm>
          <a:prstGeom prst="wedgeRoundRectCallout">
            <a:avLst>
              <a:gd name="adj1" fmla="val 63638"/>
              <a:gd name="adj2" fmla="val 129838"/>
              <a:gd name="adj3" fmla="val 16667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1</a:t>
            </a:r>
            <a:r>
              <a:rPr lang="en-US" altLang="ko-KR" sz="800" dirty="0" smtClean="0">
                <a:solidFill>
                  <a:schemeClr val="tx1"/>
                </a:solidFill>
              </a:rPr>
              <a:t>. </a:t>
            </a:r>
            <a:r>
              <a:rPr lang="ko-KR" altLang="en-US" sz="800" dirty="0" smtClean="0">
                <a:solidFill>
                  <a:schemeClr val="tx1"/>
                </a:solidFill>
              </a:rPr>
              <a:t>설비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호기명을</a:t>
            </a:r>
            <a:r>
              <a:rPr lang="ko-KR" altLang="en-US" sz="800" dirty="0" smtClean="0">
                <a:solidFill>
                  <a:schemeClr val="tx1"/>
                </a:solidFill>
              </a:rPr>
              <a:t> 선택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2" name="모서리가 둥근 사각형 설명선 21"/>
          <p:cNvSpPr/>
          <p:nvPr/>
        </p:nvSpPr>
        <p:spPr>
          <a:xfrm>
            <a:off x="95250" y="2077937"/>
            <a:ext cx="1882913" cy="465238"/>
          </a:xfrm>
          <a:prstGeom prst="wedgeRoundRectCallout">
            <a:avLst>
              <a:gd name="adj1" fmla="val 67254"/>
              <a:gd name="adj2" fmla="val 11939"/>
              <a:gd name="adj3" fmla="val 16667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2</a:t>
            </a:r>
            <a:r>
              <a:rPr lang="en-US" altLang="ko-KR" sz="800" dirty="0" smtClean="0">
                <a:solidFill>
                  <a:schemeClr val="tx1"/>
                </a:solidFill>
              </a:rPr>
              <a:t>. </a:t>
            </a:r>
            <a:r>
              <a:rPr lang="ko-KR" altLang="en-US" sz="800" dirty="0" smtClean="0">
                <a:solidFill>
                  <a:schemeClr val="tx1"/>
                </a:solidFill>
              </a:rPr>
              <a:t>선택한 설비에 저장된 모델을 선택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3" name="모서리가 둥근 사각형 설명선 22"/>
          <p:cNvSpPr/>
          <p:nvPr/>
        </p:nvSpPr>
        <p:spPr>
          <a:xfrm>
            <a:off x="95250" y="2664752"/>
            <a:ext cx="1882913" cy="2916897"/>
          </a:xfrm>
          <a:prstGeom prst="wedgeRoundRectCallout">
            <a:avLst>
              <a:gd name="adj1" fmla="val 70221"/>
              <a:gd name="adj2" fmla="val -44204"/>
              <a:gd name="adj3" fmla="val 16667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3</a:t>
            </a:r>
            <a:r>
              <a:rPr lang="en-US" altLang="ko-KR" sz="800" dirty="0" smtClean="0">
                <a:solidFill>
                  <a:schemeClr val="tx1"/>
                </a:solidFill>
              </a:rPr>
              <a:t>. </a:t>
            </a:r>
            <a:r>
              <a:rPr lang="ko-KR" altLang="en-US" sz="800" dirty="0" smtClean="0">
                <a:solidFill>
                  <a:schemeClr val="tx1"/>
                </a:solidFill>
              </a:rPr>
              <a:t>선택한 모델에서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로트를</a:t>
            </a:r>
            <a:r>
              <a:rPr lang="ko-KR" altLang="en-US" sz="800" dirty="0" smtClean="0">
                <a:solidFill>
                  <a:schemeClr val="tx1"/>
                </a:solidFill>
              </a:rPr>
              <a:t> 선택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자동으로 해당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레이어와</a:t>
            </a:r>
            <a:r>
              <a:rPr lang="ko-KR" altLang="en-US" sz="800" dirty="0" smtClean="0">
                <a:solidFill>
                  <a:schemeClr val="tx1"/>
                </a:solidFill>
              </a:rPr>
              <a:t> 공정코드</a:t>
            </a:r>
            <a:r>
              <a:rPr lang="en-US" altLang="ko-KR" sz="800" dirty="0" smtClean="0">
                <a:solidFill>
                  <a:schemeClr val="tx1"/>
                </a:solidFill>
              </a:rPr>
              <a:t>, ITS</a:t>
            </a:r>
            <a:r>
              <a:rPr lang="ko-KR" altLang="en-US" sz="800" dirty="0" smtClean="0">
                <a:solidFill>
                  <a:schemeClr val="tx1"/>
                </a:solidFill>
              </a:rPr>
              <a:t>코드</a:t>
            </a:r>
            <a:r>
              <a:rPr lang="en-US" altLang="ko-KR" sz="800" dirty="0" smtClean="0">
                <a:solidFill>
                  <a:schemeClr val="tx1"/>
                </a:solidFill>
              </a:rPr>
              <a:t> </a:t>
            </a:r>
            <a:r>
              <a:rPr lang="ko-KR" altLang="en-US" sz="800" dirty="0" smtClean="0">
                <a:solidFill>
                  <a:schemeClr val="tx1"/>
                </a:solidFill>
              </a:rPr>
              <a:t>설정됨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검사모드는 </a:t>
            </a:r>
            <a:r>
              <a:rPr lang="ko-KR" altLang="en-US" sz="800" dirty="0" err="1">
                <a:solidFill>
                  <a:schemeClr val="tx1"/>
                </a:solidFill>
              </a:rPr>
              <a:t>레이어명으로</a:t>
            </a:r>
            <a:r>
              <a:rPr lang="ko-KR" altLang="en-US" sz="800" dirty="0">
                <a:solidFill>
                  <a:schemeClr val="tx1"/>
                </a:solidFill>
              </a:rPr>
              <a:t> 선택하고 디폴트는 양면모드임</a:t>
            </a:r>
          </a:p>
          <a:p>
            <a:pPr algn="ctr"/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ITS Data</a:t>
            </a:r>
            <a:r>
              <a:rPr lang="ko-KR" altLang="en-US" sz="800" dirty="0" smtClean="0">
                <a:solidFill>
                  <a:schemeClr val="tx1"/>
                </a:solidFill>
              </a:rPr>
              <a:t>의 원점선택은 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“</a:t>
            </a:r>
            <a:r>
              <a:rPr lang="ko-KR" altLang="en-US" sz="800" dirty="0" smtClean="0">
                <a:solidFill>
                  <a:schemeClr val="tx1"/>
                </a:solidFill>
              </a:rPr>
              <a:t>디폴트로 </a:t>
            </a:r>
            <a:r>
              <a:rPr lang="en-US" altLang="ko-KR" sz="800" dirty="0" smtClean="0">
                <a:solidFill>
                  <a:schemeClr val="tx1"/>
                </a:solidFill>
              </a:rPr>
              <a:t>Case 1 (</a:t>
            </a:r>
            <a:r>
              <a:rPr lang="ko-KR" altLang="en-US" sz="800" dirty="0" smtClean="0">
                <a:solidFill>
                  <a:schemeClr val="tx1"/>
                </a:solidFill>
              </a:rPr>
              <a:t>좌상</a:t>
            </a:r>
            <a:r>
              <a:rPr lang="en-US" altLang="ko-KR" sz="800" dirty="0" smtClean="0">
                <a:solidFill>
                  <a:schemeClr val="tx1"/>
                </a:solidFill>
              </a:rPr>
              <a:t>)” </a:t>
            </a:r>
            <a:r>
              <a:rPr lang="ko-KR" altLang="en-US" sz="800" dirty="0" smtClean="0">
                <a:solidFill>
                  <a:schemeClr val="tx1"/>
                </a:solidFill>
              </a:rPr>
              <a:t>임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 smtClean="0">
                <a:solidFill>
                  <a:schemeClr val="tx1"/>
                </a:solidFill>
              </a:rPr>
              <a:t>Reelmap</a:t>
            </a:r>
            <a:r>
              <a:rPr lang="ko-KR" altLang="en-US" sz="800" dirty="0" smtClean="0">
                <a:solidFill>
                  <a:schemeClr val="tx1"/>
                </a:solidFill>
              </a:rPr>
              <a:t>은</a:t>
            </a:r>
            <a:r>
              <a:rPr lang="en-US" altLang="ko-KR" sz="800" dirty="0" smtClean="0">
                <a:solidFill>
                  <a:schemeClr val="tx1"/>
                </a:solidFill>
              </a:rPr>
              <a:t> </a:t>
            </a:r>
            <a:r>
              <a:rPr lang="ko-KR" altLang="en-US" sz="800" dirty="0" smtClean="0">
                <a:solidFill>
                  <a:schemeClr val="tx1"/>
                </a:solidFill>
              </a:rPr>
              <a:t>상면이 선택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시리얼은 </a:t>
            </a:r>
            <a:r>
              <a:rPr lang="en-US" altLang="ko-KR" sz="800" dirty="0" smtClean="0">
                <a:solidFill>
                  <a:schemeClr val="tx1"/>
                </a:solidFill>
              </a:rPr>
              <a:t>1</a:t>
            </a:r>
            <a:r>
              <a:rPr lang="ko-KR" altLang="en-US" sz="800" dirty="0" smtClean="0">
                <a:solidFill>
                  <a:schemeClr val="tx1"/>
                </a:solidFill>
              </a:rPr>
              <a:t>번에 가까운 최초의 시리얼이 설정됨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상면</a:t>
            </a:r>
            <a:r>
              <a:rPr lang="en-US" altLang="ko-KR" sz="800" dirty="0" smtClean="0">
                <a:solidFill>
                  <a:schemeClr val="tx1"/>
                </a:solidFill>
              </a:rPr>
              <a:t>PCR, </a:t>
            </a:r>
            <a:r>
              <a:rPr lang="ko-KR" altLang="en-US" sz="800" dirty="0" smtClean="0">
                <a:solidFill>
                  <a:schemeClr val="tx1"/>
                </a:solidFill>
              </a:rPr>
              <a:t>하면</a:t>
            </a:r>
            <a:r>
              <a:rPr lang="en-US" altLang="ko-KR" sz="800" dirty="0" smtClean="0">
                <a:solidFill>
                  <a:schemeClr val="tx1"/>
                </a:solidFill>
              </a:rPr>
              <a:t>PCR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리스팅</a:t>
            </a:r>
            <a:endParaRPr lang="en-US" altLang="ko-KR" sz="800" dirty="0" smtClean="0">
              <a:solidFill>
                <a:schemeClr val="tx1"/>
              </a:solidFill>
            </a:endParaRPr>
          </a:p>
          <a:p>
            <a:pPr algn="ctr"/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검사모드에의해</a:t>
            </a:r>
            <a:r>
              <a:rPr lang="ko-KR" altLang="en-US" sz="800" dirty="0" smtClean="0">
                <a:solidFill>
                  <a:schemeClr val="tx1"/>
                </a:solidFill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</a:rPr>
              <a:t>ITS</a:t>
            </a:r>
            <a:r>
              <a:rPr lang="ko-KR" altLang="en-US" sz="800" dirty="0" smtClean="0">
                <a:solidFill>
                  <a:schemeClr val="tx1"/>
                </a:solidFill>
              </a:rPr>
              <a:t>파일 </a:t>
            </a:r>
            <a:r>
              <a:rPr lang="ko-KR" altLang="en-US" sz="800" dirty="0" err="1" smtClean="0">
                <a:solidFill>
                  <a:schemeClr val="tx1"/>
                </a:solidFill>
              </a:rPr>
              <a:t>리스팅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sp>
        <p:nvSpPr>
          <p:cNvPr id="24" name="모서리가 둥근 사각형 설명선 23"/>
          <p:cNvSpPr/>
          <p:nvPr/>
        </p:nvSpPr>
        <p:spPr>
          <a:xfrm>
            <a:off x="7476211" y="6311900"/>
            <a:ext cx="1772563" cy="465238"/>
          </a:xfrm>
          <a:prstGeom prst="wedgeRoundRectCallout">
            <a:avLst>
              <a:gd name="adj1" fmla="val -46354"/>
              <a:gd name="adj2" fmla="val -129327"/>
              <a:gd name="adj3" fmla="val 16667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4</a:t>
            </a:r>
            <a:r>
              <a:rPr lang="en-US" altLang="ko-KR" sz="800" dirty="0" smtClean="0">
                <a:solidFill>
                  <a:schemeClr val="tx1"/>
                </a:solidFill>
              </a:rPr>
              <a:t>. ITS</a:t>
            </a:r>
            <a:r>
              <a:rPr lang="ko-KR" altLang="en-US" sz="800" dirty="0" smtClean="0">
                <a:solidFill>
                  <a:schemeClr val="tx1"/>
                </a:solidFill>
              </a:rPr>
              <a:t>파일을 선택하면 </a:t>
            </a:r>
            <a:r>
              <a:rPr lang="en-US" altLang="ko-KR" sz="800" dirty="0" smtClean="0">
                <a:solidFill>
                  <a:schemeClr val="tx1"/>
                </a:solidFill>
              </a:rPr>
              <a:t>ITS</a:t>
            </a: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파일 내용이 표시됨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5" name="오른쪽 화살표 24"/>
          <p:cNvSpPr/>
          <p:nvPr/>
        </p:nvSpPr>
        <p:spPr>
          <a:xfrm rot="17282361">
            <a:off x="8274546" y="5954091"/>
            <a:ext cx="532369" cy="133859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모서리가 둥근 사각형 설명선 25"/>
          <p:cNvSpPr/>
          <p:nvPr/>
        </p:nvSpPr>
        <p:spPr>
          <a:xfrm>
            <a:off x="401246" y="6307338"/>
            <a:ext cx="4172040" cy="465238"/>
          </a:xfrm>
          <a:prstGeom prst="wedgeRoundRectCallout">
            <a:avLst>
              <a:gd name="adj1" fmla="val 34779"/>
              <a:gd name="adj2" fmla="val -352487"/>
              <a:gd name="adj3" fmla="val 16667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5</a:t>
            </a:r>
            <a:r>
              <a:rPr lang="en-US" altLang="ko-KR" sz="800" dirty="0" smtClean="0">
                <a:solidFill>
                  <a:schemeClr val="tx1"/>
                </a:solidFill>
              </a:rPr>
              <a:t>. </a:t>
            </a:r>
            <a:r>
              <a:rPr lang="en-US" altLang="ko-KR" sz="800" dirty="0">
                <a:solidFill>
                  <a:srgbClr val="C00000"/>
                </a:solidFill>
              </a:rPr>
              <a:t>ITS Data</a:t>
            </a:r>
            <a:r>
              <a:rPr lang="ko-KR" altLang="en-US" sz="800" dirty="0">
                <a:solidFill>
                  <a:srgbClr val="C00000"/>
                </a:solidFill>
              </a:rPr>
              <a:t>의 </a:t>
            </a:r>
            <a:r>
              <a:rPr lang="ko-KR" altLang="en-US" sz="800" dirty="0" smtClean="0">
                <a:solidFill>
                  <a:srgbClr val="C00000"/>
                </a:solidFill>
              </a:rPr>
              <a:t>원점을 선택하면 </a:t>
            </a:r>
            <a:r>
              <a:rPr lang="en-US" altLang="ko-KR" sz="800" dirty="0" smtClean="0">
                <a:solidFill>
                  <a:srgbClr val="C00000"/>
                </a:solidFill>
              </a:rPr>
              <a:t>ITS</a:t>
            </a:r>
            <a:r>
              <a:rPr lang="ko-KR" altLang="en-US" sz="800" dirty="0" smtClean="0">
                <a:solidFill>
                  <a:srgbClr val="C00000"/>
                </a:solidFill>
              </a:rPr>
              <a:t>파일 내용이 선택한 원점을 </a:t>
            </a:r>
            <a:endParaRPr lang="en-US" altLang="ko-KR" sz="800" dirty="0" smtClean="0">
              <a:solidFill>
                <a:srgbClr val="C00000"/>
              </a:solidFill>
            </a:endParaRPr>
          </a:p>
          <a:p>
            <a:pPr algn="ctr"/>
            <a:r>
              <a:rPr lang="ko-KR" altLang="en-US" sz="800" dirty="0" smtClean="0">
                <a:solidFill>
                  <a:srgbClr val="C00000"/>
                </a:solidFill>
              </a:rPr>
              <a:t>기준으로 </a:t>
            </a:r>
            <a:r>
              <a:rPr lang="ko-KR" altLang="en-US" sz="800" dirty="0">
                <a:solidFill>
                  <a:srgbClr val="C00000"/>
                </a:solidFill>
              </a:rPr>
              <a:t>생성날짜와 시간으로 </a:t>
            </a:r>
            <a:r>
              <a:rPr lang="ko-KR" altLang="en-US" sz="800" dirty="0" smtClean="0">
                <a:solidFill>
                  <a:srgbClr val="C00000"/>
                </a:solidFill>
              </a:rPr>
              <a:t>새 파일이 추가 생성됨</a:t>
            </a:r>
            <a:endParaRPr lang="en-US" altLang="ko-KR" sz="800" dirty="0" smtClean="0">
              <a:solidFill>
                <a:srgbClr val="C00000"/>
              </a:solidFill>
            </a:endParaRPr>
          </a:p>
        </p:txBody>
      </p:sp>
      <p:sp>
        <p:nvSpPr>
          <p:cNvPr id="28" name="모서리가 둥근 사각형 설명선 27"/>
          <p:cNvSpPr/>
          <p:nvPr/>
        </p:nvSpPr>
        <p:spPr>
          <a:xfrm>
            <a:off x="5422846" y="6294847"/>
            <a:ext cx="1363259" cy="465238"/>
          </a:xfrm>
          <a:prstGeom prst="wedgeRoundRectCallout">
            <a:avLst>
              <a:gd name="adj1" fmla="val -115525"/>
              <a:gd name="adj2" fmla="val -135469"/>
              <a:gd name="adj3" fmla="val 16667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시리얼을 선택하고 클릭하면 </a:t>
            </a:r>
            <a:r>
              <a:rPr lang="ko-KR" altLang="en-US" sz="1000" b="1" dirty="0" err="1" smtClean="0">
                <a:solidFill>
                  <a:schemeClr val="tx1"/>
                </a:solidFill>
              </a:rPr>
              <a:t>릴맵이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 표시</a:t>
            </a:r>
            <a:r>
              <a:rPr lang="ko-KR" altLang="en-US" sz="800" dirty="0" smtClean="0">
                <a:solidFill>
                  <a:schemeClr val="tx1"/>
                </a:solidFill>
              </a:rPr>
              <a:t>됨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7" name="오른쪽 화살표 26"/>
          <p:cNvSpPr/>
          <p:nvPr/>
        </p:nvSpPr>
        <p:spPr>
          <a:xfrm rot="19673488">
            <a:off x="4015491" y="5705751"/>
            <a:ext cx="1872591" cy="15894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527387" y="646087"/>
            <a:ext cx="845551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 smtClean="0"/>
              <a:t>캠마스터에서</a:t>
            </a:r>
            <a:r>
              <a:rPr lang="ko-KR" altLang="en-US" sz="1000" b="1" dirty="0" smtClean="0"/>
              <a:t> 스트립정보와 매트릭스정보를 변경해서 </a:t>
            </a:r>
            <a:r>
              <a:rPr lang="en-US" altLang="ko-KR" sz="1000" b="1" dirty="0" smtClean="0"/>
              <a:t>AOI</a:t>
            </a:r>
            <a:r>
              <a:rPr lang="ko-KR" altLang="en-US" sz="1000" b="1" dirty="0" smtClean="0"/>
              <a:t> 및 </a:t>
            </a:r>
            <a:r>
              <a:rPr lang="ko-KR" altLang="en-US" sz="1000" b="1" dirty="0" err="1" smtClean="0"/>
              <a:t>펀칭부</a:t>
            </a:r>
            <a:r>
              <a:rPr lang="ko-KR" altLang="en-US" sz="1000" b="1" dirty="0" smtClean="0"/>
              <a:t> 데이터를 처리하면</a:t>
            </a:r>
            <a:r>
              <a:rPr lang="en-US" altLang="ko-KR" sz="1000" b="1" dirty="0" smtClean="0"/>
              <a:t>, </a:t>
            </a:r>
            <a:r>
              <a:rPr lang="en-US" altLang="ko-KR" sz="1000" b="1" dirty="0"/>
              <a:t>ITS Data</a:t>
            </a:r>
            <a:r>
              <a:rPr lang="ko-KR" altLang="en-US" sz="1000" b="1" dirty="0"/>
              <a:t>의 </a:t>
            </a:r>
            <a:r>
              <a:rPr lang="ko-KR" altLang="en-US" sz="1000" b="1" dirty="0" smtClean="0"/>
              <a:t>원점선택에 따라 실물 위치의 데이터 좌표 표시가 다원화 되어</a:t>
            </a:r>
            <a:r>
              <a:rPr lang="en-US" altLang="ko-KR" sz="1000" b="1" dirty="0" smtClean="0"/>
              <a:t>, </a:t>
            </a:r>
            <a:r>
              <a:rPr lang="ko-KR" altLang="en-US" sz="1000" b="1" dirty="0" smtClean="0"/>
              <a:t>복잡도가 높아짐 </a:t>
            </a:r>
            <a:endParaRPr lang="en-US" altLang="ko-KR" sz="1000" b="1" dirty="0" smtClean="0"/>
          </a:p>
          <a:p>
            <a:r>
              <a:rPr lang="ko-KR" altLang="en-US" sz="1000" b="1" dirty="0" smtClean="0"/>
              <a:t>이에 기존 작업방식 및 데이터 처리는 유지하고</a:t>
            </a:r>
            <a:r>
              <a:rPr lang="en-US" altLang="ko-KR" sz="1000" b="1" dirty="0" smtClean="0"/>
              <a:t>, </a:t>
            </a:r>
            <a:r>
              <a:rPr lang="ko-KR" altLang="en-US" sz="1000" b="1" dirty="0" smtClean="0"/>
              <a:t>최종적으로 </a:t>
            </a:r>
            <a:r>
              <a:rPr lang="en-US" altLang="ko-KR" sz="1000" b="1" dirty="0" smtClean="0"/>
              <a:t>ITS </a:t>
            </a:r>
            <a:r>
              <a:rPr lang="ko-KR" altLang="en-US" sz="1000" b="1" dirty="0" smtClean="0"/>
              <a:t>시스템에서 기존 일원화된 데이터를 기반으로 원점 선택에 따른 변경된 결과물을 </a:t>
            </a:r>
            <a:r>
              <a:rPr lang="ko-KR" altLang="en-US" sz="1000" b="1" dirty="0" err="1" smtClean="0"/>
              <a:t>관리하는게</a:t>
            </a:r>
            <a:r>
              <a:rPr lang="ko-KR" altLang="en-US" sz="1000" b="1" dirty="0" smtClean="0"/>
              <a:t> 개발 및 운용에 유리함</a:t>
            </a:r>
            <a:r>
              <a:rPr lang="en-US" altLang="ko-KR" sz="1000" b="1" dirty="0" smtClean="0"/>
              <a:t>.</a:t>
            </a:r>
          </a:p>
          <a:p>
            <a:r>
              <a:rPr lang="en-US" altLang="ko-KR" sz="1000" b="1" dirty="0" smtClean="0"/>
              <a:t>ITS</a:t>
            </a:r>
            <a:r>
              <a:rPr lang="ko-KR" altLang="en-US" sz="1000" b="1" dirty="0" smtClean="0"/>
              <a:t>시스템에서 개발이 어려우면 </a:t>
            </a:r>
            <a:r>
              <a:rPr lang="en-US" altLang="ko-KR" sz="1000" b="1" dirty="0" smtClean="0"/>
              <a:t>ITS</a:t>
            </a:r>
            <a:r>
              <a:rPr lang="ko-KR" altLang="en-US" sz="1000" b="1" dirty="0" smtClean="0"/>
              <a:t>시스템으로 가기 바로 전에 </a:t>
            </a:r>
            <a:r>
              <a:rPr lang="en-US" altLang="ko-KR" sz="1000" b="1" dirty="0" smtClean="0"/>
              <a:t>ITS </a:t>
            </a:r>
            <a:r>
              <a:rPr lang="ko-KR" altLang="en-US" sz="1000" b="1" dirty="0" smtClean="0"/>
              <a:t>데이터를 변환하여 별도로 관리하는 프로그램을 아래와 같이 디자인함</a:t>
            </a:r>
            <a:r>
              <a:rPr lang="en-US" altLang="ko-KR" sz="1000" b="1" dirty="0" smtClean="0"/>
              <a:t>.</a:t>
            </a:r>
            <a:r>
              <a:rPr lang="ko-KR" altLang="en-US" sz="1000" b="1" dirty="0" smtClean="0"/>
              <a:t> 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85057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2855</TotalTime>
  <Words>175</Words>
  <Application>Microsoft Office PowerPoint</Application>
  <PresentationFormat>와이드스크린</PresentationFormat>
  <Paragraphs>41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GUI 구성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15</cp:revision>
  <dcterms:created xsi:type="dcterms:W3CDTF">2025-10-16T09:08:14Z</dcterms:created>
  <dcterms:modified xsi:type="dcterms:W3CDTF">2025-10-22T00:20:06Z</dcterms:modified>
</cp:coreProperties>
</file>